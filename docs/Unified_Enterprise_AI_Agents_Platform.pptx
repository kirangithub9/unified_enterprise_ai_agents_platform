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3.xml" ContentType="application/vnd.openxmlformats-officedocument.presentationml.slide+xml"/>
  <Override PartName="/ppt/slides/slide16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\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docProps\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\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

<file path=ppt\_rels\presentation.xml.rels><?xml version='1.0' encoding='UTF-8' standalone='yes'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9" Type="http://schemas.openxmlformats.org/officeDocument/2006/relationships/slide" Target="slides/slide13.xml"/><Relationship Id="rId20" Type="http://schemas.openxmlformats.org/officeDocument/2006/relationships/slide" Target="slides/slide15.xml"/><Relationship Id="rId21" Type="http://schemas.openxmlformats.org/officeDocument/2006/relationships/slide" Target="slides/slide16.xml"/></Relationships>
</file>

<file path=ppt\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\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70" r:id="rId20"/>
    <p:sldId id="271" r:id="rId21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\slideLayouts\_rels\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\slideLayouts\_rels\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\slideLayouts\_rels\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\slideLayouts\_rels\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\slideLayouts\_rels\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\slideLayouts\_rels\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\slideLayouts\_rels\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\slideLayouts\_rels\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\slideLayouts\_rels\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\slideLayouts\_rels\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\slideLayouts\_rels\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\slideLayouts\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\slideLayouts\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\slideLayouts\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\slideLayouts\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\slideLayouts\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\slideLayouts\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\slideLayouts\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\slideLayouts\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\slideLayouts\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\slideLayouts\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\slideLayouts\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\slideMasters\_rels\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\slideMasters\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\slides\_rels\slide1.xml.rels>&#65279;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\slides\_rels\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\slides\_rels\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\slides\_rels\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\slides\_rels\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\slides\_rels\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\slides\_rels\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\slides\_rels\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\slides\_rels\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\slides\_rels\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\slides\_rels\slide11.xml.rels><?xml version='1.0' encoding='UTF-8' standalone='yes'?>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/Relationships>
</file>

<file path=ppt\slides\_rels\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\slides\_rels\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\slides\_rels\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\slides\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apgemini Logo" descr="Capgemini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57200"/>
            <a:ext cx="1538850" cy="50292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980120"/>
            <a:ext cx="1538850" cy="40640"/>
          </a:xfrm>
          <a:prstGeom prst="rect">
            <a:avLst/>
          </a:prstGeom>
          <a:solidFill>
            <a:srgbClr val="007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418320" y="457200"/>
            <a:ext cx="2377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29B5E8"/>
                </a:solidFill>
              </a:rPr>
              <a:t>❄ </a:t>
            </a:r>
            <a:r>
              <a:rPr sz="2400" b="1">
                <a:solidFill>
                  <a:srgbClr val="FFFFFF"/>
                </a:solidFill>
                <a:latin typeface="Calibri"/>
              </a:rPr>
              <a:t>Snowflake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286000"/>
            <a:ext cx="106984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Unified Enterprise AI Agents Platform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429000"/>
            <a:ext cx="9966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700" b="0" i="0">
                <a:solidFill>
                  <a:srgbClr val="29B5E8"/>
                </a:solidFill>
                <a:latin typeface="Calibri"/>
              </a:rPr>
              <a:t>Self-Service Analytics  •  Document Intelligence  •  Data Quality Root Cause</a:t>
            </a:r>
          </a:p>
          <a:p>
            <a:pPr algn="ctr">
              <a:lnSpc>
                <a:spcPct val="130000"/>
              </a:lnSpc>
            </a:pPr>
            <a:r>
              <a:rPr sz="1700" b="0" i="0">
                <a:solidFill>
                  <a:srgbClr val="29B5E8"/>
                </a:solidFill>
                <a:latin typeface="Calibri"/>
              </a:rPr>
              <a:t>All in one conversational AI agent, built natively on Snowflake Cortex</a:t>
            </a:r>
          </a:p>
        </p:txBody>
      </p:sp>
      <p:sp>
        <p:nvSpPr>
          <p:cNvPr id="8" name="Rectangle 7"/>
          <p:cNvSpPr/>
          <p:nvPr/>
        </p:nvSpPr>
        <p:spPr>
          <a:xfrm>
            <a:off x="4937760" y="4434840"/>
            <a:ext cx="2286000" cy="25400"/>
          </a:xfrm>
          <a:prstGeom prst="rect">
            <a:avLst/>
          </a:prstGeom>
          <a:solidFill>
            <a:srgbClr val="E8A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70916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FFFFFF"/>
                </a:solidFill>
                <a:latin typeface="Calibri"/>
              </a:rPr>
              <a:t>Capgemini × Snowflake Hackathon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257800"/>
            <a:ext cx="10332720" cy="8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E8A82A"/>
                </a:solidFill>
                <a:latin typeface="Calibri"/>
              </a:rPr>
              <a:t>Team Oscar</a:t>
            </a:r>
          </a:p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FFFFFF"/>
                </a:solidFill>
                <a:latin typeface="Calibri"/>
              </a:rPr>
              <a:t>Presented by  Kiran Kumar Rajoju   &amp;   Raza Hussain</a:t>
            </a:r>
          </a:p>
        </p:txBody>
      </p:sp>
    </p:spTree>
  </p:cSld>
  <p:clrMapOvr>
    <a:masterClrMapping/>
  </p:clrMapOvr>
</p:sld>
</file>

<file path=ppt\slides\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7315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Georgia"/>
              </a:rPr>
              <a:t>Agenda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645920"/>
            <a:ext cx="10058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▸  The Problem — three specialists, three tools, too slow</a:t>
            </a:r>
          </a:p>
          <a:p>
            <a:pPr>
              <a:spcAft>
                <a:spcPts val="1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▸  The Solution — one unified conversational agent</a:t>
            </a:r>
          </a:p>
          <a:p>
            <a:pPr>
              <a:spcAft>
                <a:spcPts val="1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▸  Architecture — how it's built, natively on Snowflake</a:t>
            </a:r>
          </a:p>
          <a:p>
            <a:pPr>
              <a:spcAft>
                <a:spcPts val="1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▸  Live Capabilities — Analytics, Document Q&amp;A, Data Quality</a:t>
            </a:r>
          </a:p>
          <a:p>
            <a:pPr>
              <a:spcAft>
                <a:spcPts val="1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▸  Unified Orchestration — one chat box, automatic routing</a:t>
            </a:r>
          </a:p>
          <a:p>
            <a:pPr>
              <a:spcAft>
                <a:spcPts val="1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▸  Dashboards &amp; MCP Integration — usage, trust, and extensibility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73952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1">
                <a:solidFill>
                  <a:srgbClr val="5A6370"/>
                </a:solidFill>
                <a:latin typeface="Calibri"/>
              </a:rPr>
              <a:t>Unified Enterprise AI Agents Platform  |  Capgemini x Snowflake Hackathon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73952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370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\slides\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7315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Georgia"/>
              </a:rPr>
              <a:t>The Problem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850000"/>
            <a:ext cx="1069848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0070AD"/>
                </a:solidFill>
                <a:latin typeface="Calibri"/>
              </a:rPr>
              <a:t>One question. Three specialists. One bottleneck.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1A1A1A"/>
                </a:solidFill>
                <a:latin typeface="Calibri"/>
              </a:rPr>
              <a:t>Business users at an insurer need answers from three different places — and today,</a:t>
            </a:r>
          </a:p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1A1A1A"/>
                </a:solidFill>
                <a:latin typeface="Calibri"/>
              </a:rPr>
              <a:t>that means three different specialists.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468880"/>
            <a:ext cx="3291840" cy="301752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651760"/>
            <a:ext cx="32918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0" i="0">
                <a:solidFill>
                  <a:srgbClr val="1A1A1A"/>
                </a:solidFill>
                <a:latin typeface="Calibri"/>
              </a:rPr>
              <a:t>📊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429000"/>
            <a:ext cx="2926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0070AD"/>
                </a:solidFill>
                <a:latin typeface="Calibri"/>
              </a:rPr>
              <a:t>SQL / BI Analyst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3931920"/>
            <a:ext cx="2834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 i="1">
                <a:solidFill>
                  <a:srgbClr val="1A1A1A"/>
                </a:solidFill>
                <a:latin typeface="Calibri"/>
              </a:rPr>
              <a:t>"What's our average loss ratio</a:t>
            </a:r>
          </a:p>
          <a:p>
            <a:pPr algn="ctr">
              <a:lnSpc>
                <a:spcPct val="120000"/>
              </a:lnSpc>
            </a:pPr>
            <a:r>
              <a:rPr sz="1300" b="0" i="1">
                <a:solidFill>
                  <a:srgbClr val="1A1A1A"/>
                </a:solidFill>
                <a:latin typeface="Calibri"/>
              </a:rPr>
              <a:t>by policy type?"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4892040"/>
            <a:ext cx="2834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5A6370"/>
                </a:solidFill>
                <a:latin typeface="Calibri"/>
              </a:rPr>
              <a:t>Structured data: policies,</a:t>
            </a:r>
          </a:p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5A6370"/>
                </a:solidFill>
                <a:latin typeface="Calibri"/>
              </a:rPr>
              <a:t>claims, billing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2468880"/>
            <a:ext cx="3291840" cy="301752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43400" y="2651760"/>
            <a:ext cx="32918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0" i="0">
                <a:solidFill>
                  <a:srgbClr val="1A1A1A"/>
                </a:solidFill>
                <a:latin typeface="Calibri"/>
              </a:rPr>
              <a:t>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3429000"/>
            <a:ext cx="2926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0070AD"/>
                </a:solidFill>
                <a:latin typeface="Calibri"/>
              </a:rPr>
              <a:t>Document Reviewer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3931920"/>
            <a:ext cx="2834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 i="1">
                <a:solidFill>
                  <a:srgbClr val="1A1A1A"/>
                </a:solidFill>
                <a:latin typeface="Calibri"/>
              </a:rPr>
              <a:t>"Does this policy cover</a:t>
            </a:r>
          </a:p>
          <a:p>
            <a:pPr algn="ctr">
              <a:lnSpc>
                <a:spcPct val="120000"/>
              </a:lnSpc>
            </a:pPr>
            <a:r>
              <a:rPr sz="1300" b="0" i="1">
                <a:solidFill>
                  <a:srgbClr val="1A1A1A"/>
                </a:solidFill>
                <a:latin typeface="Calibri"/>
              </a:rPr>
              <a:t>water damage?"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4892040"/>
            <a:ext cx="2834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5A6370"/>
                </a:solidFill>
                <a:latin typeface="Calibri"/>
              </a:rPr>
              <a:t>Unstructured PDFs and</a:t>
            </a:r>
          </a:p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5A6370"/>
                </a:solidFill>
                <a:latin typeface="Calibri"/>
              </a:rPr>
              <a:t>contracts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55280" y="2468880"/>
            <a:ext cx="3291840" cy="301752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55280" y="2651760"/>
            <a:ext cx="32918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0" i="0">
                <a:solidFill>
                  <a:srgbClr val="1A1A1A"/>
                </a:solidFill>
                <a:latin typeface="Calibri"/>
              </a:rPr>
              <a:t>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8160" y="3429000"/>
            <a:ext cx="2926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0070AD"/>
                </a:solidFill>
                <a:latin typeface="Calibri"/>
              </a:rPr>
              <a:t>Data Engineer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83880" y="3931920"/>
            <a:ext cx="2834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 i="1">
                <a:solidFill>
                  <a:srgbClr val="1A1A1A"/>
                </a:solidFill>
                <a:latin typeface="Calibri"/>
              </a:rPr>
              <a:t>"Why did this data quality</a:t>
            </a:r>
          </a:p>
          <a:p>
            <a:pPr algn="ctr">
              <a:lnSpc>
                <a:spcPct val="120000"/>
              </a:lnSpc>
            </a:pPr>
            <a:r>
              <a:rPr sz="1300" b="0" i="1">
                <a:solidFill>
                  <a:srgbClr val="1A1A1A"/>
                </a:solidFill>
                <a:latin typeface="Calibri"/>
              </a:rPr>
              <a:t>check fail?"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83880" y="4892040"/>
            <a:ext cx="2834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5A6370"/>
                </a:solidFill>
                <a:latin typeface="Calibri"/>
              </a:rPr>
              <a:t>DQ rules, results,</a:t>
            </a:r>
          </a:p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5A6370"/>
                </a:solidFill>
                <a:latin typeface="Calibri"/>
              </a:rPr>
              <a:t>and logs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80644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1">
                <a:solidFill>
                  <a:srgbClr val="5A6370"/>
                </a:solidFill>
                <a:latin typeface="Calibri"/>
              </a:rPr>
              <a:t>Slow, siloed, and dependent on whoever happens to be available.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73952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1">
                <a:solidFill>
                  <a:srgbClr val="5A6370"/>
                </a:solidFill>
                <a:latin typeface="Calibri"/>
              </a:rPr>
              <a:t>Unified Enterprise AI Agents Platform  |  Capgemini x Snowflake Hackathon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47120" y="6473952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370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\slides\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8229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Georgia"/>
              </a:rPr>
              <a:t>The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900" b="1" i="0">
                <a:solidFill>
                  <a:srgbClr val="1A1A1A"/>
                </a:solidFill>
                <a:latin typeface="Calibri"/>
              </a:rPr>
              <a:t>One conversational agent that replaces all three specialists —</a:t>
            </a:r>
          </a:p>
          <a:p>
            <a:pPr algn="l">
              <a:lnSpc>
                <a:spcPct val="130000"/>
              </a:lnSpc>
            </a:pPr>
            <a:r>
              <a:rPr sz="1900" b="1" i="0">
                <a:solidFill>
                  <a:srgbClr val="1A1A1A"/>
                </a:solidFill>
                <a:latin typeface="Calibri"/>
              </a:rPr>
              <a:t>built entirely with native Snowflake Cortex features.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468880"/>
            <a:ext cx="109728" cy="960120"/>
          </a:xfrm>
          <a:prstGeom prst="rect">
            <a:avLst/>
          </a:prstGeom>
          <a:solidFill>
            <a:srgbClr val="29B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423160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0B1F3A"/>
                </a:solidFill>
                <a:latin typeface="Calibri"/>
              </a:rPr>
              <a:t>📊  Self-Service Analytics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852928"/>
            <a:ext cx="100584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5A6370"/>
                </a:solidFill>
                <a:latin typeface="Calibri"/>
              </a:rPr>
              <a:t>Cortex Analyst turns plain English into governed SQL</a:t>
            </a:r>
          </a:p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5A6370"/>
                </a:solidFill>
                <a:latin typeface="Calibri"/>
              </a:rPr>
              <a:t>against a native SEMANTIC VIEW.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3657600"/>
            <a:ext cx="109728" cy="960120"/>
          </a:xfrm>
          <a:prstGeom prst="rect">
            <a:avLst/>
          </a:prstGeom>
          <a:solidFill>
            <a:srgbClr val="29B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3611880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0B1F3A"/>
                </a:solidFill>
                <a:latin typeface="Calibri"/>
              </a:rPr>
              <a:t>📄  Document Q&amp;A (RAG)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041648"/>
            <a:ext cx="100584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5A6370"/>
                </a:solidFill>
                <a:latin typeface="Calibri"/>
              </a:rPr>
              <a:t>Cortex Search auto-embeds and indexes policy documents</a:t>
            </a:r>
          </a:p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5A6370"/>
                </a:solidFill>
                <a:latin typeface="Calibri"/>
              </a:rPr>
              <a:t>— no external vector database.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846320"/>
            <a:ext cx="109728" cy="960120"/>
          </a:xfrm>
          <a:prstGeom prst="rect">
            <a:avLst/>
          </a:prstGeom>
          <a:solidFill>
            <a:srgbClr val="29B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800600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0B1F3A"/>
                </a:solidFill>
                <a:latin typeface="Calibri"/>
              </a:rPr>
              <a:t>🛡  Data Quality Root Cause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230368"/>
            <a:ext cx="100584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5A6370"/>
                </a:solidFill>
                <a:latin typeface="Calibri"/>
              </a:rPr>
              <a:t>A second semantic view lets business users ask “why did</a:t>
            </a:r>
          </a:p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5A6370"/>
                </a:solidFill>
                <a:latin typeface="Calibri"/>
              </a:rPr>
              <a:t>this fail?” and get a real answer.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5989320"/>
            <a:ext cx="10698480" cy="502920"/>
          </a:xfrm>
          <a:prstGeom prst="roundRect">
            <a:avLst>
              <a:gd name="adj" fmla="val 15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6053328"/>
            <a:ext cx="10698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One chat box.  One agent.  Automatic routing between all three.</a:t>
            </a:r>
          </a:p>
        </p:txBody>
      </p:sp>
    </p:spTree>
  </p:cSld>
  <p:clrMapOvr>
    <a:masterClrMapping/>
  </p:clrMapOvr>
</p:sld>
</file>

<file path=ppt\slides\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8229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Georgia"/>
              </a:rPr>
              <a:t>Architecture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0" y="1371600"/>
            <a:ext cx="3200400" cy="640080"/>
          </a:xfrm>
          <a:prstGeom prst="roundRect">
            <a:avLst>
              <a:gd name="adj" fmla="val 15000"/>
            </a:avLst>
          </a:prstGeom>
          <a:solidFill>
            <a:srgbClr val="FF4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480560" y="150876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Streamlit-in-Snowflake  —  Chat UI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080760" y="2011680"/>
            <a:ext cx="0" cy="365760"/>
          </a:xfrm>
          <a:prstGeom prst="bentConnector3">
            <a:avLst/>
          </a:prstGeom>
          <a:ln w="25400">
            <a:solidFill>
              <a:srgbClr val="5A63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023360" y="2377440"/>
            <a:ext cx="4114800" cy="777240"/>
          </a:xfrm>
          <a:prstGeom prst="roundRect">
            <a:avLst>
              <a:gd name="adj" fmla="val 15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023360" y="2487168"/>
            <a:ext cx="4114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ENTERPRISE_AI_AGENT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60" y="2798064"/>
            <a:ext cx="4114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29B5E8"/>
                </a:solidFill>
                <a:latin typeface="Calibri"/>
              </a:rPr>
              <a:t>Snowflake Cortex Agent  •  auto-orchestration</a:t>
            </a:r>
          </a:p>
        </p:txBody>
      </p:sp>
      <p:cxnSp>
        <p:nvCxnSpPr>
          <p:cNvPr id="11" name="Connector 10"/>
          <p:cNvCxnSpPr/>
          <p:nvPr/>
        </p:nvCxnSpPr>
        <p:spPr>
          <a:xfrm flipH="1">
            <a:off x="2331720.0" y="3154680"/>
            <a:ext cx="3749040.0" cy="411480"/>
          </a:xfrm>
          <a:prstGeom prst="bentConnector3">
            <a:avLst/>
          </a:prstGeom>
          <a:ln w="19050">
            <a:solidFill>
              <a:srgbClr val="5A63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85800" y="3566160"/>
            <a:ext cx="3291840" cy="868680"/>
          </a:xfrm>
          <a:prstGeom prst="roundRect">
            <a:avLst>
              <a:gd name="adj" fmla="val 10000"/>
            </a:avLst>
          </a:prstGeom>
          <a:solidFill>
            <a:srgbClr val="F4F6F9"/>
          </a:solidFill>
          <a:ln w="19050">
            <a:solidFill>
              <a:srgbClr val="0070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3639312"/>
            <a:ext cx="32918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0B1F3A"/>
                </a:solidFill>
                <a:latin typeface="Calibri"/>
              </a:rPr>
              <a:t>AnalyticsAgent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3950208"/>
            <a:ext cx="3291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5A6370"/>
                </a:solidFill>
                <a:latin typeface="Calibri"/>
              </a:rPr>
              <a:t>Cortex Analyst</a:t>
            </a:r>
          </a:p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5A6370"/>
                </a:solidFill>
                <a:latin typeface="Calibri"/>
              </a:rPr>
              <a:t>(text-to-SQL)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331720.0" y="4434840"/>
            <a:ext cx="0.0" cy="274320"/>
          </a:xfrm>
          <a:prstGeom prst="bentConnector3">
            <a:avLst/>
          </a:prstGeom>
          <a:ln w="19050">
            <a:solidFill>
              <a:srgbClr val="5A63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685800" y="4709160"/>
            <a:ext cx="3291840" cy="548640"/>
          </a:xfrm>
          <a:prstGeom prst="roundRect">
            <a:avLst>
              <a:gd name="adj" fmla="val 10000"/>
            </a:avLst>
          </a:prstGeom>
          <a:solidFill>
            <a:srgbClr val="007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4828032"/>
            <a:ext cx="3291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ANALYTICS_SEMANTIC_VIEW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080760" y="3154680"/>
            <a:ext cx="18288.0" cy="411480"/>
          </a:xfrm>
          <a:prstGeom prst="bentConnector3">
            <a:avLst/>
          </a:prstGeom>
          <a:ln w="19050">
            <a:solidFill>
              <a:srgbClr val="5A63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4453128" y="3566160"/>
            <a:ext cx="3291840" cy="868680"/>
          </a:xfrm>
          <a:prstGeom prst="roundRect">
            <a:avLst>
              <a:gd name="adj" fmla="val 10000"/>
            </a:avLst>
          </a:prstGeom>
          <a:solidFill>
            <a:srgbClr val="F4F6F9"/>
          </a:solidFill>
          <a:ln w="19050">
            <a:solidFill>
              <a:srgbClr val="29B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53128" y="3639312"/>
            <a:ext cx="32918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0B1F3A"/>
                </a:solidFill>
                <a:latin typeface="Calibri"/>
              </a:rPr>
              <a:t>DocumentQA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53128" y="3950208"/>
            <a:ext cx="3291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5A6370"/>
                </a:solidFill>
                <a:latin typeface="Calibri"/>
              </a:rPr>
              <a:t>Cortex Search</a:t>
            </a:r>
          </a:p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5A6370"/>
                </a:solidFill>
                <a:latin typeface="Calibri"/>
              </a:rPr>
              <a:t>(RAG)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099048.0" y="4434840"/>
            <a:ext cx="0.0" cy="274320"/>
          </a:xfrm>
          <a:prstGeom prst="bentConnector3">
            <a:avLst/>
          </a:prstGeom>
          <a:ln w="19050">
            <a:solidFill>
              <a:srgbClr val="5A63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4453128" y="4709160"/>
            <a:ext cx="3291840" cy="548640"/>
          </a:xfrm>
          <a:prstGeom prst="roundRect">
            <a:avLst>
              <a:gd name="adj" fmla="val 10000"/>
            </a:avLst>
          </a:prstGeom>
          <a:solidFill>
            <a:srgbClr val="29B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53128" y="4828032"/>
            <a:ext cx="3291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POLICY_DOCUMENT_SEARCH_SVC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080760" y="3154680"/>
            <a:ext cx="3776472.0" cy="411480"/>
          </a:xfrm>
          <a:prstGeom prst="bentConnector3">
            <a:avLst/>
          </a:prstGeom>
          <a:ln w="19050">
            <a:solidFill>
              <a:srgbClr val="5A63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8211312" y="3566160"/>
            <a:ext cx="3291840" cy="868680"/>
          </a:xfrm>
          <a:prstGeom prst="roundRect">
            <a:avLst>
              <a:gd name="adj" fmla="val 10000"/>
            </a:avLst>
          </a:prstGeom>
          <a:solidFill>
            <a:srgbClr val="F4F6F9"/>
          </a:solidFill>
          <a:ln w="19050">
            <a:solidFill>
              <a:srgbClr val="E8A8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11312" y="3639312"/>
            <a:ext cx="32918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0B1F3A"/>
                </a:solidFill>
                <a:latin typeface="Calibri"/>
              </a:rPr>
              <a:t>DataQualityAgent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11312" y="3950208"/>
            <a:ext cx="3291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5A6370"/>
                </a:solidFill>
                <a:latin typeface="Calibri"/>
              </a:rPr>
              <a:t>Cortex Analyst</a:t>
            </a:r>
          </a:p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5A6370"/>
                </a:solidFill>
                <a:latin typeface="Calibri"/>
              </a:rPr>
              <a:t>(text-to-SQL)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9857232.0" y="4434840"/>
            <a:ext cx="0.0" cy="274320"/>
          </a:xfrm>
          <a:prstGeom prst="bentConnector3">
            <a:avLst/>
          </a:prstGeom>
          <a:ln w="19050">
            <a:solidFill>
              <a:srgbClr val="5A63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8211312" y="4709160"/>
            <a:ext cx="3291840" cy="548640"/>
          </a:xfrm>
          <a:prstGeom prst="roundRect">
            <a:avLst>
              <a:gd name="adj" fmla="val 10000"/>
            </a:avLst>
          </a:prstGeom>
          <a:solidFill>
            <a:srgbClr val="E8A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11312" y="4828032"/>
            <a:ext cx="3291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DQ_SEMANTIC_VIEW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5486400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0" i="1">
                <a:solidFill>
                  <a:srgbClr val="5A6370"/>
                </a:solidFill>
                <a:latin typeface="Calibri"/>
              </a:rPr>
              <a:t>Everything runs natively inside Snowflake — one governance boundary, no data leaves the</a:t>
            </a:r>
          </a:p>
          <a:p>
            <a:pPr algn="ctr">
              <a:lnSpc>
                <a:spcPct val="130000"/>
              </a:lnSpc>
            </a:pPr>
            <a:r>
              <a:rPr sz="1400" b="0" i="1">
                <a:solidFill>
                  <a:srgbClr val="5A6370"/>
                </a:solidFill>
                <a:latin typeface="Calibri"/>
              </a:rPr>
              <a:t>account, no external vector DB or orchestration service required.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6473952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1">
                <a:solidFill>
                  <a:srgbClr val="5A6370"/>
                </a:solidFill>
                <a:latin typeface="Calibri"/>
              </a:rPr>
              <a:t>Unified Enterprise AI Agents Platform  |  Capgemini x Snowflake Hackathon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247120" y="6473952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370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\slides\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822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200" b="0" i="0">
                <a:solidFill>
                  <a:srgbClr val="1A1A1A"/>
                </a:solidFill>
                <a:latin typeface="Calibri"/>
              </a:rPr>
              <a:t>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64592"/>
            <a:ext cx="8686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Georgia"/>
              </a:rPr>
              <a:t>Agent 1 — Self-Service Analytics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621792"/>
            <a:ext cx="8686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29B5E8"/>
                </a:solidFill>
                <a:latin typeface="Calibri"/>
              </a:rPr>
              <a:t>Structured data, answered in plain English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554480"/>
            <a:ext cx="62179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▸  Native SEMANTIC VIEW over 6 operational tables — customers,
policies, claims, billing, agents, at-risk policies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▸  Business-friendly metrics: loss ratio, total premium, fraud
claim count, revenue at risk, churn probability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▸  Cortex Analyst translates the question into governed SQL —
shown inline for full transparency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▸  Relationships declared explicitly, so joins are always correct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0" y="1554480"/>
            <a:ext cx="4114800" cy="2743200"/>
          </a:xfrm>
          <a:prstGeom prst="roundRect">
            <a:avLst>
              <a:gd name="adj" fmla="val 8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0" y="173736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9B5E8"/>
                </a:solidFill>
                <a:latin typeface="Calibri"/>
              </a:rPr>
              <a:t>Example question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0" y="2148840"/>
            <a:ext cx="35661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1">
                <a:solidFill>
                  <a:srgbClr val="FFFFFF"/>
                </a:solidFill>
                <a:latin typeface="Calibri"/>
              </a:rPr>
              <a:t>“What's our average loss ratio by policy type?”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589520" y="3383280"/>
            <a:ext cx="3566160" cy="19050"/>
          </a:xfrm>
          <a:prstGeom prst="rect">
            <a:avLst/>
          </a:prstGeom>
          <a:solidFill>
            <a:srgbClr val="29B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89520" y="3520440"/>
            <a:ext cx="35661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C7D6E8"/>
                </a:solidFill>
                <a:latin typeface="Calibri"/>
              </a:rPr>
              <a:t>Verified live: Life ~57.5%, Health/Home ~55.4%, Auto ~53.1%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C7D6E8"/>
                </a:solidFill>
                <a:latin typeface="Calibri"/>
              </a:rPr>
              <a:t>— all computed from real generated SQL, not canned data.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73952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1">
                <a:solidFill>
                  <a:srgbClr val="5A6370"/>
                </a:solidFill>
                <a:latin typeface="Calibri"/>
              </a:rPr>
              <a:t>Unified Enterprise AI Agents Platform  |  Capgemini x Snowflake Hackathon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0" y="6473952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370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\slides\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822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200" b="0" i="0">
                <a:solidFill>
                  <a:srgbClr val="1A1A1A"/>
                </a:solidFill>
                <a:latin typeface="Calibri"/>
              </a:rPr>
              <a:t>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64592"/>
            <a:ext cx="8686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Georgia"/>
              </a:rPr>
              <a:t>Agent 2 — Document Q&amp;A (RAG)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621792"/>
            <a:ext cx="8686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29B5E8"/>
                </a:solidFill>
                <a:latin typeface="Calibri"/>
              </a:rPr>
              <a:t>Ask questions of unstructured policy documents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554480"/>
            <a:ext cx="62179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▸  Policy documents chunked with
SNOWFLAKE.CORTEX.SPLIT_TEXT_RECURSIVE_CHARACTER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▸  A CORTEX SEARCH SERVICE indexes chunk text with
auto-managed embeddings — no external vector DB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▸  Answers cite the source document, so business users can
verify, not just trust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▸  Filterable by policy ID, document type, and title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0" y="1554480"/>
            <a:ext cx="4114800" cy="2743200"/>
          </a:xfrm>
          <a:prstGeom prst="roundRect">
            <a:avLst>
              <a:gd name="adj" fmla="val 8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0" y="173736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9B5E8"/>
                </a:solidFill>
                <a:latin typeface="Calibri"/>
              </a:rPr>
              <a:t>Example question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0" y="2148840"/>
            <a:ext cx="35661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1">
                <a:solidFill>
                  <a:srgbClr val="FFFFFF"/>
                </a:solidFill>
                <a:latin typeface="Calibri"/>
              </a:rPr>
              <a:t>“What are the exclusion clauses for water damage in the Homeowners policy?”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589520" y="3383280"/>
            <a:ext cx="3566160" cy="19050"/>
          </a:xfrm>
          <a:prstGeom prst="rect">
            <a:avLst/>
          </a:prstGeom>
          <a:solidFill>
            <a:srgbClr val="29B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89520" y="3520440"/>
            <a:ext cx="35661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C7D6E8"/>
                </a:solidFill>
                <a:latin typeface="Calibri"/>
              </a:rPr>
              <a:t>Verified live: correctly distinguished that flood is excluded,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C7D6E8"/>
                </a:solidFill>
                <a:latin typeface="Calibri"/>
              </a:rPr>
              <a:t>while general water damage (e.g. burst pipes) is not.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73952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1">
                <a:solidFill>
                  <a:srgbClr val="5A6370"/>
                </a:solidFill>
                <a:latin typeface="Calibri"/>
              </a:rPr>
              <a:t>Unified Enterprise AI Agents Platform  |  Capgemini x Snowflake Hackathon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0" y="6473952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370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\slides\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822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200" b="0" i="0">
                <a:solidFill>
                  <a:srgbClr val="1A1A1A"/>
                </a:solidFill>
                <a:latin typeface="Calibri"/>
              </a:rPr>
              <a:t>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64592"/>
            <a:ext cx="8686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Georgia"/>
              </a:rPr>
              <a:t>Agent 3 — Data Quality Root Cause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621792"/>
            <a:ext cx="8686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29B5E8"/>
                </a:solidFill>
                <a:latin typeface="Calibri"/>
              </a:rPr>
              <a:t>Conversational root-cause analysis, not a dashboard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554480"/>
            <a:ext cx="62179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▸  A second SEMANTIC VIEW over DQ_RULES, DQ_RESULTS,
DQ_COLUMN_HEALTH, and DQ_SCORES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▸  Turns “why did this fail?” into an evidence-backed answer,
not a support ticket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▸  Cites the exact rule, pass rate, and threshold that triggered
the failure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▸  Replaces manually opening a DQ dashboard and
cross-referencing rule logs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0" y="1554480"/>
            <a:ext cx="4114800" cy="2743200"/>
          </a:xfrm>
          <a:prstGeom prst="roundRect">
            <a:avLst>
              <a:gd name="adj" fmla="val 8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0" y="173736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9B5E8"/>
                </a:solidFill>
                <a:latin typeface="Calibri"/>
              </a:rPr>
              <a:t>Example question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0" y="2148840"/>
            <a:ext cx="35661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1">
                <a:solidFill>
                  <a:srgbClr val="FFFFFF"/>
                </a:solidFill>
                <a:latin typeface="Calibri"/>
              </a:rPr>
              <a:t>“Why did the DQ check on CUSTOMERS.EMAIL fail?”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589520" y="3383280"/>
            <a:ext cx="3566160" cy="19050"/>
          </a:xfrm>
          <a:prstGeom prst="rect">
            <a:avLst/>
          </a:prstGeom>
          <a:solidFill>
            <a:srgbClr val="29B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89520" y="3520440"/>
            <a:ext cx="35661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C7D6E8"/>
                </a:solidFill>
                <a:latin typeface="Calibri"/>
              </a:rPr>
              <a:t>Verified live: identified the UNIQUE_CUSTOMER_EMAIL rule,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C7D6E8"/>
                </a:solidFill>
                <a:latin typeface="Calibri"/>
              </a:rPr>
              <a:t>94% pass rate vs. 99% threshold, root cause = duplicate emails.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73952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1">
                <a:solidFill>
                  <a:srgbClr val="5A6370"/>
                </a:solidFill>
                <a:latin typeface="Calibri"/>
              </a:rPr>
              <a:t>Unified Enterprise AI Agents Platform  |  Capgemini x Snowflake Hackathon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0" y="6473952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370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\slides\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9144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Georgia"/>
              </a:rPr>
              <a:t>Live Proof — Data Quality Root Cause</a:t>
            </a:r>
          </a:p>
        </p:txBody>
      </p:sp>
      <p:pic>
        <p:nvPicPr>
          <p:cNvPr id="5" name="Picture 4" descr="stream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38348"/>
            <a:ext cx="10698480" cy="440426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73952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1">
                <a:solidFill>
                  <a:srgbClr val="5A6370"/>
                </a:solidFill>
                <a:latin typeface="Calibri"/>
              </a:rPr>
              <a:t>Unified Enterprise AI Agents Platform  |  Capgemini x Snowflake Hackathon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73952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370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\slides\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9144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Georgia"/>
              </a:rPr>
              <a:t>Unified Orchestration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0" i="0">
                <a:solidFill>
                  <a:srgbClr val="1A1A1A"/>
                </a:solidFill>
                <a:latin typeface="Calibri"/>
              </a:rPr>
              <a:t>This is the “Unified” in the project name — not three separate demos, but one agent</a:t>
            </a:r>
          </a:p>
          <a:p>
            <a:pPr algn="l">
              <a:lnSpc>
                <a:spcPct val="130000"/>
              </a:lnSpc>
            </a:pPr>
            <a:r>
              <a:rPr sz="1700" b="0" i="0">
                <a:solidFill>
                  <a:srgbClr val="1A1A1A"/>
                </a:solidFill>
                <a:latin typeface="Calibri"/>
              </a:rPr>
              <a:t>that decides for itself which capability to use.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286000"/>
            <a:ext cx="109728" cy="777240"/>
          </a:xfrm>
          <a:prstGeom prst="rect">
            <a:avLst/>
          </a:prstGeom>
          <a:solidFill>
            <a:srgbClr val="29B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67712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0B1F3A"/>
                </a:solidFill>
                <a:latin typeface="Calibri"/>
              </a:rPr>
              <a:t>One chat box.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33472"/>
            <a:ext cx="9875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5A6370"/>
                </a:solidFill>
                <a:latin typeface="Calibri"/>
              </a:rPr>
              <a:t>The user never picks a tool — they just ask a question, in plain English.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3291840"/>
            <a:ext cx="109728" cy="777240"/>
          </a:xfrm>
          <a:prstGeom prst="rect">
            <a:avLst/>
          </a:prstGeom>
          <a:solidFill>
            <a:srgbClr val="29B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3273552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0B1F3A"/>
                </a:solidFill>
                <a:latin typeface="Calibri"/>
              </a:rPr>
              <a:t>Automatic routing.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639312"/>
            <a:ext cx="9875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5A6370"/>
                </a:solidFill>
                <a:latin typeface="Calibri"/>
              </a:rPr>
              <a:t>Cortex Agents' orchestration model decides per-question which tool(s) to invoke.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297680"/>
            <a:ext cx="109728" cy="777240"/>
          </a:xfrm>
          <a:prstGeom prst="rect">
            <a:avLst/>
          </a:prstGeom>
          <a:solidFill>
            <a:srgbClr val="29B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9392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0B1F3A"/>
                </a:solidFill>
                <a:latin typeface="Calibri"/>
              </a:rPr>
              <a:t>Full transparency.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645152"/>
            <a:ext cx="9875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5A6370"/>
                </a:solidFill>
                <a:latin typeface="Calibri"/>
              </a:rPr>
              <a:t>Every answer shows a caption — e.g. “via 📊 Self-Service Analytics” — so it's always</a:t>
            </a:r>
          </a:p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5A6370"/>
                </a:solidFill>
                <a:latin typeface="Calibri"/>
              </a:rPr>
              <a:t>clear which capability actually answered.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5303520"/>
            <a:ext cx="109728" cy="777240"/>
          </a:xfrm>
          <a:prstGeom prst="rect">
            <a:avLst/>
          </a:prstGeom>
          <a:solidFill>
            <a:srgbClr val="29B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5285232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0B1F3A"/>
                </a:solidFill>
                <a:latin typeface="Calibri"/>
              </a:rPr>
              <a:t>Auditable by design.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5650992"/>
            <a:ext cx="9875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5A6370"/>
                </a:solidFill>
                <a:latin typeface="Calibri"/>
              </a:rPr>
              <a:t>Generated SQL and document citations are shown inline, so every answer can</a:t>
            </a:r>
          </a:p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5A6370"/>
                </a:solidFill>
                <a:latin typeface="Calibri"/>
              </a:rPr>
              <a:t>be independently verified.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73952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1">
                <a:solidFill>
                  <a:srgbClr val="5A6370"/>
                </a:solidFill>
                <a:latin typeface="Calibri"/>
              </a:rPr>
              <a:t>Unified Enterprise AI Agents Platform  |  Capgemini x Snowflake Hackathon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47120" y="6473952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370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\slides\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9601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FFFFFF"/>
                </a:solidFill>
                <a:latin typeface="Georgia"/>
              </a:rPr>
              <a:t>Dashboards &amp; MCP Integration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0070AD"/>
                </a:solidFill>
                <a:latin typeface="Calibri"/>
              </a:rPr>
              <a:t>Snowflake Intelligence Dashboards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55778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▸  Portfolio &amp; Risk — premium, loss ratio, revenue at risk
by policy type and region</a:t>
            </a:r>
          </a:p>
          <a:p>
            <a:pPr>
              <a:spcAft>
                <a:spcPts val="12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▸  Trend Analysis — month-over-month claims,
fraud, and churn</a:t>
            </a:r>
          </a:p>
          <a:p>
            <a:pPr>
              <a:spcAft>
                <a:spcPts val="12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▸  Agent Accuracy &amp; Usage — query volume and
👍/👎 helpful rate per tool, live from every
chat interaction</a:t>
            </a:r>
          </a:p>
        </p:txBody>
      </p:sp>
      <p:pic>
        <p:nvPicPr>
          <p:cNvPr id="7" name="Dashboard Portfolio Risk Screenshot" descr="Portfolio and Risk dashboard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9360" y="1869359"/>
            <a:ext cx="2621280" cy="1297867"/>
          </a:xfrm>
          <a:prstGeom prst="rect">
            <a:avLst/>
          </a:prstGeom>
          <a:ln w="9525">
            <a:solidFill>
              <a:srgbClr val="E2E5EA"/>
            </a:solidFill>
          </a:ln>
        </p:spPr>
      </p:pic>
      <p:pic>
        <p:nvPicPr>
          <p:cNvPr id="13" name="Dashboard Trend Analysis Screenshot" descr="Trend Analysis dashboard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91600" y="1929627"/>
            <a:ext cx="2621280" cy="1177332"/>
          </a:xfrm>
          <a:prstGeom prst="rect">
            <a:avLst/>
          </a:prstGeom>
          <a:ln w="9525">
            <a:solidFill>
              <a:srgbClr val="E2E5EA"/>
            </a:solidFill>
          </a:ln>
        </p:spPr>
      </p:pic>
      <p:pic>
        <p:nvPicPr>
          <p:cNvPr id="14" name="Dashboard Usage Screenshot" descr="Agent usage across all channel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3512857"/>
            <a:ext cx="2621280" cy="1083174"/>
          </a:xfrm>
          <a:prstGeom prst="rect">
            <a:avLst/>
          </a:prstGeom>
          <a:ln w="9525">
            <a:solidFill>
              <a:srgbClr val="E2E5EA"/>
            </a:solidFill>
          </a:ln>
        </p:spPr>
      </p:pic>
      <p:pic>
        <p:nvPicPr>
          <p:cNvPr id="15" name="Dashboard Accuracy Screenshot" descr="Agent accuracy, Streamlit only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91600" y="3497640"/>
            <a:ext cx="2621280" cy="1113608"/>
          </a:xfrm>
          <a:prstGeom prst="rect">
            <a:avLst/>
          </a:prstGeom>
          <a:ln w="9525">
            <a:solidFill>
              <a:srgbClr val="E2E5EA"/>
            </a:solidFill>
          </a:ln>
        </p:spPr>
      </p:pic>
      <p:sp>
        <p:nvSpPr>
          <p:cNvPr id="8" name="Rectangle 7"/>
          <p:cNvSpPr/>
          <p:nvPr/>
        </p:nvSpPr>
        <p:spPr>
          <a:xfrm>
            <a:off x="548640" y="4892040"/>
            <a:ext cx="11064240" cy="19050"/>
          </a:xfrm>
          <a:prstGeom prst="rect">
            <a:avLst/>
          </a:prstGeom>
          <a:solidFill>
            <a:srgbClr val="E2E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50749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0070AD"/>
                </a:solidFill>
                <a:latin typeface="Calibri"/>
              </a:rPr>
              <a:t>MCP Integration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48640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▸  ENTERPRISE_AI_AGENT exposed as a Model Context Protocol server — any MCP client (Claude, Cursor, etc.) can query it directly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▸  Tested and verified live end-to-end with Claude's Connectors UI via OAuth — real questions, real executed answers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73952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1">
                <a:solidFill>
                  <a:srgbClr val="5A6370"/>
                </a:solidFill>
                <a:latin typeface="Calibri"/>
              </a:rPr>
              <a:t>Unified Enterprise AI Agents Platform  |  Capgemini x Snowflake Hackathon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473952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370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\slides\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apgemini Logo" descr="Capgemini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57200"/>
            <a:ext cx="1538850" cy="50292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980120"/>
            <a:ext cx="1538850" cy="40640"/>
          </a:xfrm>
          <a:prstGeom prst="rect">
            <a:avLst/>
          </a:prstGeom>
          <a:solidFill>
            <a:srgbClr val="007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418320" y="457200"/>
            <a:ext cx="2377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29B5E8"/>
                </a:solidFill>
              </a:rPr>
              <a:t>❄ </a:t>
            </a:r>
            <a:r>
              <a:rPr sz="2400" b="1">
                <a:solidFill>
                  <a:srgbClr val="FFFFFF"/>
                </a:solidFill>
                <a:latin typeface="Calibri"/>
              </a:rPr>
              <a:t>Snowflake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56032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800" b="1" i="0">
                <a:solidFill>
                  <a:srgbClr val="FFFFFF"/>
                </a:solidFill>
                <a:latin typeface="Georgia"/>
              </a:rPr>
              <a:t>Thank You</a:t>
            </a:r>
          </a:p>
        </p:txBody>
      </p:sp>
      <p:sp>
        <p:nvSpPr>
          <p:cNvPr id="7" name="Rectangle 6"/>
          <p:cNvSpPr/>
          <p:nvPr/>
        </p:nvSpPr>
        <p:spPr>
          <a:xfrm>
            <a:off x="5394960" y="3520440"/>
            <a:ext cx="1371600" cy="31750"/>
          </a:xfrm>
          <a:prstGeom prst="rect">
            <a:avLst/>
          </a:prstGeom>
          <a:solidFill>
            <a:srgbClr val="E8A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79476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 i="0">
                <a:solidFill>
                  <a:srgbClr val="29B5E8"/>
                </a:solidFill>
                <a:latin typeface="Calibri"/>
              </a:rPr>
              <a:t>Questions?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846320"/>
            <a:ext cx="10332720" cy="87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E8A82A"/>
                </a:solidFill>
                <a:latin typeface="Calibri"/>
              </a:rPr>
              <a:t>Team Oscar</a:t>
            </a:r>
          </a:p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FFFFFF"/>
                </a:solidFill>
                <a:latin typeface="Calibri"/>
              </a:rPr>
              <a:t>Kiran Kumar Rajoju   •   Raza Hussain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769240"/>
            <a:ext cx="10332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 i="0">
                <a:solidFill>
                  <a:srgbClr val="C7D6E8"/>
                </a:solidFill>
                <a:latin typeface="Calibri"/>
              </a:rPr>
              <a:t>github.com/kirangithub9/Insurance_AI_Hub</a:t>
            </a:r>
          </a:p>
        </p:txBody>
      </p:sp>
    </p:spTree>
  </p:cSld>
  <p:clrMapOvr>
    <a:masterClrMapping/>
  </p:clrMapOvr>
</p:sld>
</file>

<file path=ppt\slides\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7315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Georgia"/>
              </a:rPr>
              <a:t>Benefits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645920"/>
            <a:ext cx="10058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4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▸  Faster answers — hours of waiting on a specialist collapse into a single conversation</a:t>
            </a:r>
          </a:p>
          <a:p>
            <a:pPr>
              <a:spcAft>
                <a:spcPts val="24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▸  No new tools to learn — plain English in, no SQL, no BI dashboards, no ticket queue</a:t>
            </a:r>
          </a:p>
          <a:p>
            <a:pPr>
              <a:spcAft>
                <a:spcPts val="24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▸  Trustworthy by design — every answer shows its SQL or source citation, so it can be verified</a:t>
            </a:r>
          </a:p>
          <a:p>
            <a:pPr>
              <a:spcAft>
                <a:spcPts val="24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▸  One integration, many channels — the same agent serves Streamlit today and any MCP client tomorrow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73952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1">
                <a:solidFill>
                  <a:srgbClr val="5A6370"/>
                </a:solidFill>
                <a:latin typeface="Calibri"/>
              </a:rPr>
              <a:t>Unified Enterprise AI Agents Platform  |  Capgemini x Snowflake Hackathon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73952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370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\slides\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9601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FFFFFF"/>
                </a:solidFill>
                <a:latin typeface="Georgia"/>
              </a:rPr>
              <a:t>Judging Criteria</a:t>
            </a:r>
          </a:p>
        </p:txBody>
      </p:sp>
      <p:sp>
        <p:nvSpPr>
          <p:cNvPr id="5" name="Card 1"/>
          <p:cNvSpPr/>
          <p:nvPr/>
        </p:nvSpPr>
        <p:spPr>
          <a:xfrm>
            <a:off x="731520" y="1400000"/>
            <a:ext cx="5204307" cy="22500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Pct 1"/>
          <p:cNvSpPr txBox="1"/>
          <p:nvPr/>
        </p:nvSpPr>
        <p:spPr>
          <a:xfrm>
            <a:off x="731520" y="1550000"/>
            <a:ext cx="5204307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600" b="1" i="0">
                <a:solidFill>
                  <a:srgbClr val="0070AD"/>
                </a:solidFill>
                <a:latin typeface="Calibri"/>
              </a:rPr>
              <a:t>30%</a:t>
            </a:r>
          </a:p>
        </p:txBody>
      </p:sp>
      <p:sp>
        <p:nvSpPr>
          <p:cNvPr id="7" name="Title 1"/>
          <p:cNvSpPr txBox="1"/>
          <p:nvPr/>
        </p:nvSpPr>
        <p:spPr>
          <a:xfrm>
            <a:off x="731520" y="2300000"/>
            <a:ext cx="5204307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 i="0">
                <a:solidFill>
                  <a:srgbClr val="1A1A1A"/>
                </a:solidFill>
                <a:latin typeface="Calibri"/>
              </a:rPr>
              <a:t>Innovation</a:t>
            </a:r>
          </a:p>
        </p:txBody>
      </p:sp>
      <p:sp>
        <p:nvSpPr>
          <p:cNvPr id="8" name="Desc 1"/>
          <p:cNvSpPr txBox="1"/>
          <p:nvPr/>
        </p:nvSpPr>
        <p:spPr>
          <a:xfrm>
            <a:off x="1005520" y="2750000"/>
            <a:ext cx="4656307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5A6370"/>
                </a:solidFill>
                <a:latin typeface="Calibri"/>
              </a:rPr>
              <a:t>One governed agent spanning structured, unstructured, and meta (data-quality) data — not three disconnected demos.</a:t>
            </a:r>
          </a:p>
        </p:txBody>
      </p:sp>
      <p:sp>
        <p:nvSpPr>
          <p:cNvPr id="9" name="Card 2"/>
          <p:cNvSpPr/>
          <p:nvPr/>
        </p:nvSpPr>
        <p:spPr>
          <a:xfrm>
            <a:off x="6255867" y="1400000"/>
            <a:ext cx="5204307" cy="22500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Pct 2"/>
          <p:cNvSpPr txBox="1"/>
          <p:nvPr/>
        </p:nvSpPr>
        <p:spPr>
          <a:xfrm>
            <a:off x="6255867" y="1550000"/>
            <a:ext cx="5204307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600" b="1" i="0">
                <a:solidFill>
                  <a:srgbClr val="0070AD"/>
                </a:solidFill>
                <a:latin typeface="Calibri"/>
              </a:rPr>
              <a:t>25%</a:t>
            </a:r>
          </a:p>
        </p:txBody>
      </p:sp>
      <p:sp>
        <p:nvSpPr>
          <p:cNvPr id="11" name="Title 2"/>
          <p:cNvSpPr txBox="1"/>
          <p:nvPr/>
        </p:nvSpPr>
        <p:spPr>
          <a:xfrm>
            <a:off x="6255867" y="2300000"/>
            <a:ext cx="5204307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 i="0">
                <a:solidFill>
                  <a:srgbClr val="1A1A1A"/>
                </a:solidFill>
                <a:latin typeface="Calibri"/>
              </a:rPr>
              <a:t>Technical Excellence</a:t>
            </a:r>
          </a:p>
        </p:txBody>
      </p:sp>
      <p:sp>
        <p:nvSpPr>
          <p:cNvPr id="12" name="Desc 2"/>
          <p:cNvSpPr txBox="1"/>
          <p:nvPr/>
        </p:nvSpPr>
        <p:spPr>
          <a:xfrm>
            <a:off x="6529867" y="2750000"/>
            <a:ext cx="4656307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5A6370"/>
                </a:solidFill>
                <a:latin typeface="Calibri"/>
              </a:rPr>
              <a:t>Native SEMANTIC VIEW, CORTEX SEARCH SERVICE, and AGENT objects — no hand-rolled RAG or orchestration code.</a:t>
            </a:r>
          </a:p>
        </p:txBody>
      </p:sp>
      <p:sp>
        <p:nvSpPr>
          <p:cNvPr id="13" name="Card 3"/>
          <p:cNvSpPr/>
          <p:nvPr/>
        </p:nvSpPr>
        <p:spPr>
          <a:xfrm>
            <a:off x="731520" y="3950000"/>
            <a:ext cx="5204307" cy="22500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ct 3"/>
          <p:cNvSpPr txBox="1"/>
          <p:nvPr/>
        </p:nvSpPr>
        <p:spPr>
          <a:xfrm>
            <a:off x="731520" y="4100000"/>
            <a:ext cx="5204307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600" b="1" i="0">
                <a:solidFill>
                  <a:srgbClr val="0070AD"/>
                </a:solidFill>
                <a:latin typeface="Calibri"/>
              </a:rPr>
              <a:t>25%</a:t>
            </a:r>
          </a:p>
        </p:txBody>
      </p:sp>
      <p:sp>
        <p:nvSpPr>
          <p:cNvPr id="15" name="Title 3"/>
          <p:cNvSpPr txBox="1"/>
          <p:nvPr/>
        </p:nvSpPr>
        <p:spPr>
          <a:xfrm>
            <a:off x="731520" y="4850000"/>
            <a:ext cx="5204307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 i="0">
                <a:solidFill>
                  <a:srgbClr val="1A1A1A"/>
                </a:solidFill>
                <a:latin typeface="Calibri"/>
              </a:rPr>
              <a:t>Business Value</a:t>
            </a:r>
          </a:p>
        </p:txBody>
      </p:sp>
      <p:sp>
        <p:nvSpPr>
          <p:cNvPr id="16" name="Desc 3"/>
          <p:cNvSpPr txBox="1"/>
          <p:nvPr/>
        </p:nvSpPr>
        <p:spPr>
          <a:xfrm>
            <a:off x="1005520" y="5300000"/>
            <a:ext cx="4656307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5A6370"/>
                </a:solidFill>
                <a:latin typeface="Calibri"/>
              </a:rPr>
              <a:t>Collapses three specialist workflows (SQL analyst, document reviewer, DQ engineer) into one self-service chat experience.</a:t>
            </a:r>
          </a:p>
        </p:txBody>
      </p:sp>
      <p:sp>
        <p:nvSpPr>
          <p:cNvPr id="17" name="Card 4"/>
          <p:cNvSpPr/>
          <p:nvPr/>
        </p:nvSpPr>
        <p:spPr>
          <a:xfrm>
            <a:off x="6255867" y="3950000"/>
            <a:ext cx="5204307" cy="22500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Pct 4"/>
          <p:cNvSpPr txBox="1"/>
          <p:nvPr/>
        </p:nvSpPr>
        <p:spPr>
          <a:xfrm>
            <a:off x="6255867" y="4100000"/>
            <a:ext cx="5204307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600" b="1" i="0">
                <a:solidFill>
                  <a:srgbClr val="0070AD"/>
                </a:solidFill>
                <a:latin typeface="Calibri"/>
              </a:rPr>
              <a:t>20%</a:t>
            </a:r>
          </a:p>
        </p:txBody>
      </p:sp>
      <p:sp>
        <p:nvSpPr>
          <p:cNvPr id="19" name="Title 4"/>
          <p:cNvSpPr txBox="1"/>
          <p:nvPr/>
        </p:nvSpPr>
        <p:spPr>
          <a:xfrm>
            <a:off x="6255867" y="4850000"/>
            <a:ext cx="5204307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 i="0">
                <a:solidFill>
                  <a:srgbClr val="1A1A1A"/>
                </a:solidFill>
                <a:latin typeface="Calibri"/>
              </a:rPr>
              <a:t>User Experience</a:t>
            </a:r>
          </a:p>
        </p:txBody>
      </p:sp>
      <p:sp>
        <p:nvSpPr>
          <p:cNvPr id="20" name="Desc 4"/>
          <p:cNvSpPr txBox="1"/>
          <p:nvPr/>
        </p:nvSpPr>
        <p:spPr>
          <a:xfrm>
            <a:off x="6529867" y="5300000"/>
            <a:ext cx="4656307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5A6370"/>
                </a:solidFill>
                <a:latin typeface="Calibri"/>
              </a:rPr>
              <a:t>One chat box; every answer is explainable — SQL shown, sources cited — so business users can trust and verify it.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73952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1">
                <a:solidFill>
                  <a:srgbClr val="5A6370"/>
                </a:solidFill>
                <a:latin typeface="Calibri"/>
              </a:rPr>
              <a:t>Unified Enterprise AI Agents Platform  |  Capgemini x Snowflake Hackathon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47120" y="6473952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370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\tableStyles.xml><?xml version="1.0" encoding="utf-8"?>
<a:tblStyleLst xmlns:a="http://schemas.openxmlformats.org/drawingml/2006/main" def="{5C22544A-7EE6-4342-B048-85BDC9FD1C3A}"/>
</file>

<file path=ppt\theme\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\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