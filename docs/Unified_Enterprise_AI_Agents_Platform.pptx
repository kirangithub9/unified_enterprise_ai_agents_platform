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0" r:id="rId20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Ansura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9966960" cy="640080"/>
          </a:xfrm>
          <a:prstGeom prst="rect">
            <a:avLst/>
          </a:prstGeom>
          <a:noFill/>
        </p:spPr>
        <p:txBody>
          <a:p>
            <a:r>
              <a:rPr b="1" sz="1700">
                <a:solidFill>
                  <a:srgbClr val="29B5E8"/>
                </a:solidFill>
                <a:latin typeface="Calibri"/>
              </a:rPr>
              <a:t>Unified Enterprise AI Agents Platform</a:t>
            </a:r>
          </a:p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Self-Service Analytics  •  Document Intelligence  •  Data Quality Root Cause</a:t>
            </a:r>
          </a:p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All in one conversational AI agent, built natively on Snowflake Cortex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434840"/>
            <a:ext cx="2286000" cy="2540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Presented by  Kiran Kumar Rajoju   &amp;   Raza Hussain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Problem — three specialists, three tools, too slow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Solution — one unified conversational agent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Architecture — how it's built, natively on Snowflake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Live Capabilities — Analytics, Document Q&amp;A, Data Quality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Unified Orchestration — one chat box, automatic routing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Dashboards &amp; MCP Integration — usage, trust, and extensibility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Benefits — faster, trusted, self-service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180000"/>
            <a:ext cx="1069848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0AD"/>
                </a:solidFill>
                <a:latin typeface="Calibri"/>
              </a:rPr>
              <a:t>One question. Three specialists. One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000"/>
            <a:ext cx="106984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Business users at an insurer need answers from three different places — and today,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that means three different specialists.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SQL / BI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"What's our average loss ratio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by policy type?"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Structured data: policies,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claims, billing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Document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"Does this policy cover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water damage?"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Unstructured PDFs and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Data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"Why did this data quality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check fail?"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DQ rules, results,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and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5A6370"/>
                </a:solidFill>
                <a:latin typeface="Calibri"/>
              </a:rPr>
              <a:t>Slow, siloed, and dependent on whoever happens to be available.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One conversational agent that replaces all three specialists —</a:t>
            </a:r>
          </a:p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built entirely with native Snowflake Cortex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📊  Self-Service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Analyst turns plain English into governed SQL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against a native SEMANTIC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📄  Document Q&amp;A 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Search auto-embeds and indexes policy documents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— no external vector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🛡  Data Quality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 second semantic view lets business users ask “why did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this fail?” and get a real answer.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97880"/>
            <a:ext cx="10698480" cy="5029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96188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One chat box.  One agent.  Automatic routing between all three.</a:t>
            </a:r>
          </a:p>
        </p:txBody>
      </p:sp>
      <p:sp>
        <p:nvSpPr>
          <p:cNvPr id="17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8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FF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Streamlit-in-Snowflake  —  Chat UI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365760"/>
          </a:xfrm>
          <a:prstGeom prst="bentConnector3">
            <a:avLst/>
          </a:prstGeom>
          <a:ln w="2540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4871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ENTERPRISE_AI_AGENT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7980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9B5E8"/>
                </a:solidFill>
                <a:latin typeface="Calibri"/>
              </a:rPr>
              <a:t>Snowflake Cortex Agent  •  auto-orchestration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31720" y="3154680"/>
            <a:ext cx="374904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007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AnalyticsAgent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ANALYTICS_SEMANTIC_VIEW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154680"/>
            <a:ext cx="18288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53128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DocumentQA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Search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(RAG)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53128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POLICY_DOCUMENT_SEARCH_SVC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54680"/>
            <a:ext cx="3776472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E8A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DataQualityAgent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57232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DQ_SEMANTIC_VIEW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Everything runs natively inside Snowflake — one governance boundary, no data leaves the</a:t>
            </a:r>
          </a:p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account, no external vector DB or orchestration service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1 — Self-Service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Structured data, answered in 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Native SEMANTIC VIEW over 6 operational tables — customers, policies, claims, billing, agents, at-risk policies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Business-friendly metrics: loss ratio, total premium, fraud claim count, revenue at risk, churn probability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Cortex Analyst translates the question into governed SQL — shown inline for full transparency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Relationships declared explicitly, so joins are always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“What's our average loss ratio by policy type?”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Life ~57.5%, Health/Home ~55.4%, Auto ~53.1%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— all computed from real generated SQL, not canned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2 — Document Q&amp;A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Ask questions of unstructured policy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Policy documents chunked with SNOWFLAKE.CORTEX.SPLIT_TEXT_RECURSIVE_CHARACTER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CORTEX SEARCH SERVICE indexes chunk text with auto-managed embeddings — no external vector DB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Answers cite the source document, so business users can verify, not just trust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Filterable by policy ID, document type, and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 are the exclusion clauses for water damage in the Homeowners policy?”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correctly distinguished that flood is excluded,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while general water damage (e.g. burst pipes) is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3 — Data Quality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Conversational root-cause analysis, not a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second SEMANTIC VIEW over DQ_RULES, DQ_RESULTS, DQ_COLUMN_HEALTH, and DQ_SCORES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Turns “why did this fail?” into an evidence-backed answer, not a support ticket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Cites the exact rule, pass rate, and threshold that triggered the failure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Replaces manually opening a DQ dashboard and cross-referencing rule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“Why did the DQ check on CUSTOMERS.EMAIL fail?”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identified the UNIQUE_CUSTOMER_EMAIL rule,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94% pass rate vs. 99% threshold, root cause = duplicate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Live Proof — Data Quality Root Cause</a:t>
            </a:r>
          </a:p>
        </p:txBody>
      </p:sp>
      <p:pic>
        <p:nvPicPr>
          <p:cNvPr id="5" name="Picture 4" descr="strea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38348"/>
            <a:ext cx="10698480" cy="4404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Unified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is Ansura — not three separate demos, but one agent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that decides for itself which capability to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One chat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The user never picks a tool — they just ask a question,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735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Automatic routing.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3931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Agents' orchestration model decides per-question which tool(s) to invoke.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Full transparency.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451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Every answer shows a caption — e.g. “via 📊 Self-Service Analytics” — so it's always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clear which capability actually answered.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Auditable by design.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5099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Generated SQL and document citations are shown inline, so every answer can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be independently verified.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Dashboards &amp; MCP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Snowflake Intelligence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Portfolio &amp; Risk — premium, loss ratio, revenue at risk by policy type and region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Trend Analysis — month-over-month claims, fraud, and churn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Agent Accuracy &amp; Usage — query volume and 👍/👎 helpful rate per tool, live from every chat interaction</a:t>
            </a:r>
          </a:p>
        </p:txBody>
      </p:sp>
      <p:pic>
        <p:nvPicPr>
          <p:cNvPr id="7" name="Dashboard Portfolio Risk Screenshot" descr="Portfolio and Risk 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69359"/>
            <a:ext cx="2621280" cy="1297867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3" name="Dashboard Trend Analysis Screenshot" descr="Trend Analysis 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929627"/>
            <a:ext cx="2621280" cy="1177332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4" name="Dashboard Usage Screenshot" descr="Agent usage across all chann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12857"/>
            <a:ext cx="2621280" cy="1083174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5" name="Dashboard Accuracy Screenshot" descr="Agent accuracy, Streamlit onl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497640"/>
            <a:ext cx="2621280" cy="111360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548640" y="4892040"/>
            <a:ext cx="11064240" cy="1905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MCP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ENTERPRISE_AI_AGENT exposed as a Model Context Protocol server — any MCP client (Claude, Cursor, etc.) can query it directly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Tested and verified live end-to-end with Claude's Connectors UI via OAuth — real questions, real executed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Benefits</a:t>
            </a:r>
          </a:p>
        </p:txBody>
      </p:sp>
      <p:sp>
        <p:nvSpPr>
          <p:cNvPr id="20" name="Benefit Card 1"/>
          <p:cNvSpPr/>
          <p:nvPr/>
        </p:nvSpPr>
        <p:spPr>
          <a:xfrm>
            <a:off x="73152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1" name="Benefit Num 1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Benefit Title 1"/>
          <p:cNvSpPr txBox="1"/>
          <p:nvPr/>
        </p:nvSpPr>
        <p:spPr>
          <a:xfrm>
            <a:off x="210312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Faster answers</a:t>
            </a:r>
          </a:p>
        </p:txBody>
      </p:sp>
      <p:sp>
        <p:nvSpPr>
          <p:cNvPr id="23" name="Benefit Desc 1"/>
          <p:cNvSpPr txBox="1"/>
          <p:nvPr/>
        </p:nvSpPr>
        <p:spPr>
          <a:xfrm>
            <a:off x="210312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Hours of waiting on a specialist collapse into a single conversation.</a:t>
            </a:r>
          </a:p>
        </p:txBody>
      </p:sp>
      <p:sp>
        <p:nvSpPr>
          <p:cNvPr id="24" name="Benefit Card 2"/>
          <p:cNvSpPr/>
          <p:nvPr/>
        </p:nvSpPr>
        <p:spPr>
          <a:xfrm>
            <a:off x="626364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5" name="Benefit Num 2"/>
          <p:cNvSpPr/>
          <p:nvPr/>
        </p:nvSpPr>
        <p:spPr>
          <a:xfrm>
            <a:off x="662940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Benefit Title 2"/>
          <p:cNvSpPr txBox="1"/>
          <p:nvPr/>
        </p:nvSpPr>
        <p:spPr>
          <a:xfrm>
            <a:off x="763524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No new tools to learn</a:t>
            </a:r>
          </a:p>
        </p:txBody>
      </p:sp>
      <p:sp>
        <p:nvSpPr>
          <p:cNvPr id="27" name="Benefit Desc 2"/>
          <p:cNvSpPr txBox="1"/>
          <p:nvPr/>
        </p:nvSpPr>
        <p:spPr>
          <a:xfrm>
            <a:off x="763524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Plain English in — no SQL, no BI dashboards, no ticket queue.</a:t>
            </a:r>
          </a:p>
        </p:txBody>
      </p:sp>
      <p:sp>
        <p:nvSpPr>
          <p:cNvPr id="28" name="Benefit Card 3"/>
          <p:cNvSpPr/>
          <p:nvPr/>
        </p:nvSpPr>
        <p:spPr>
          <a:xfrm>
            <a:off x="73152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9" name="Benefit Num 3"/>
          <p:cNvSpPr/>
          <p:nvPr/>
        </p:nvSpPr>
        <p:spPr>
          <a:xfrm>
            <a:off x="109728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Benefit Title 3"/>
          <p:cNvSpPr txBox="1"/>
          <p:nvPr/>
        </p:nvSpPr>
        <p:spPr>
          <a:xfrm>
            <a:off x="210312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Trustworthy by design</a:t>
            </a:r>
          </a:p>
        </p:txBody>
      </p:sp>
      <p:sp>
        <p:nvSpPr>
          <p:cNvPr id="31" name="Benefit Desc 3"/>
          <p:cNvSpPr txBox="1"/>
          <p:nvPr/>
        </p:nvSpPr>
        <p:spPr>
          <a:xfrm>
            <a:off x="210312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Every answer shows its SQL or source citation, so it can be verified.</a:t>
            </a:r>
          </a:p>
        </p:txBody>
      </p:sp>
      <p:sp>
        <p:nvSpPr>
          <p:cNvPr id="32" name="Benefit Card 4"/>
          <p:cNvSpPr/>
          <p:nvPr/>
        </p:nvSpPr>
        <p:spPr>
          <a:xfrm>
            <a:off x="626364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33" name="Benefit Num 4"/>
          <p:cNvSpPr/>
          <p:nvPr/>
        </p:nvSpPr>
        <p:spPr>
          <a:xfrm>
            <a:off x="662940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Benefit Title 4"/>
          <p:cNvSpPr txBox="1"/>
          <p:nvPr/>
        </p:nvSpPr>
        <p:spPr>
          <a:xfrm>
            <a:off x="763524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One integration, many channels</a:t>
            </a:r>
          </a:p>
        </p:txBody>
      </p:sp>
      <p:sp>
        <p:nvSpPr>
          <p:cNvPr id="35" name="Benefit Desc 4"/>
          <p:cNvSpPr txBox="1"/>
          <p:nvPr/>
        </p:nvSpPr>
        <p:spPr>
          <a:xfrm>
            <a:off x="763524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The same agent serves Streamlit today and any MCP client tomorrow.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Ansura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520440"/>
            <a:ext cx="1371600" cy="3175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29B5E8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87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Kiran Kumar Rajoju   •   Raza Hussain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9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C7D6E8"/>
                </a:solidFill>
                <a:latin typeface="Calibri"/>
              </a:rPr>
              <a:t>github.com/kirangithub9/Insurance_AI_Hub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